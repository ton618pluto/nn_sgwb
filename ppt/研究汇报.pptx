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10"/>
  </p:notesMasterIdLst>
  <p:sldIdLst>
    <p:sldId id="301" r:id="rId2"/>
    <p:sldId id="302" r:id="rId3"/>
    <p:sldId id="303" r:id="rId4"/>
    <p:sldId id="305" r:id="rId5"/>
    <p:sldId id="309" r:id="rId6"/>
    <p:sldId id="320" r:id="rId7"/>
    <p:sldId id="321" r:id="rId8"/>
    <p:sldId id="31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0" clrIdx="0"/>
  <p:cmAuthor id="2" name="Fengxian WU" initials="F" lastIdx="0" clrIdx="1"/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4F4"/>
    <a:srgbClr val="D6E3FA"/>
    <a:srgbClr val="171715"/>
    <a:srgbClr val="132DEE"/>
    <a:srgbClr val="003FB4"/>
    <a:srgbClr val="F2F7FD"/>
    <a:srgbClr val="F0F3FD"/>
    <a:srgbClr val="D0D3D8"/>
    <a:srgbClr val="1D2A80"/>
    <a:srgbClr val="F4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4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3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6/20/2026</a:t>
            </a:fld>
            <a:endParaRPr lang="en-US"/>
          </a:p>
        </p:txBody>
      </p:sp>
      <p:sp>
        <p:nvSpPr>
          <p:cNvPr id="10488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+mn-ea"/>
                <a:sym typeface="+mn-ea"/>
              </a:rPr>
              <a:t>按需使用：竖版目录</a:t>
            </a:r>
            <a:endParaRPr lang="zh-CN" altLang="en-US" b="1" dirty="0">
              <a:solidFill>
                <a:schemeClr val="tx2"/>
              </a:solidFill>
              <a:latin typeface="+mn-ea"/>
            </a:endParaRPr>
          </a:p>
          <a:p>
            <a:endParaRPr lang="en-US"/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5C6B8-78DB-4140-8907-159E3657485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2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2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图片 12"/>
          <p:cNvPicPr>
            <a:picLocks noChangeAspect="1"/>
          </p:cNvPicPr>
          <p:nvPr userDrawn="1"/>
        </p:nvPicPr>
        <p:blipFill>
          <a:blip r:embed="rId2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>
            <a:off x="5560548" y="1754731"/>
            <a:ext cx="6630004" cy="5103269"/>
          </a:xfrm>
          <a:custGeom>
            <a:avLst/>
            <a:gdLst>
              <a:gd name="connsiteX0" fmla="*/ 0 w 6630004"/>
              <a:gd name="connsiteY0" fmla="*/ 5103269 h 5103269"/>
              <a:gd name="connsiteX1" fmla="*/ 6630004 w 6630004"/>
              <a:gd name="connsiteY1" fmla="*/ 5103269 h 5103269"/>
              <a:gd name="connsiteX2" fmla="*/ 6630004 w 6630004"/>
              <a:gd name="connsiteY2" fmla="*/ 0 h 5103269"/>
              <a:gd name="connsiteX3" fmla="*/ 0 w 6630004"/>
              <a:gd name="connsiteY3" fmla="*/ 0 h 510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0004" h="5103269">
                <a:moveTo>
                  <a:pt x="0" y="5103269"/>
                </a:moveTo>
                <a:lnTo>
                  <a:pt x="6630004" y="5103269"/>
                </a:lnTo>
                <a:lnTo>
                  <a:pt x="6630004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97179" name="图片 6"/>
          <p:cNvPicPr>
            <a:picLocks noChangeAspect="1"/>
          </p:cNvPicPr>
          <p:nvPr userDrawn="1"/>
        </p:nvPicPr>
        <p:blipFill>
          <a:blip r:embed="rId3" cstate="screen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 flipH="1" flipV="1">
            <a:off x="-2151" y="6585"/>
            <a:ext cx="5561996" cy="5123582"/>
          </a:xfrm>
          <a:custGeom>
            <a:avLst/>
            <a:gdLst>
              <a:gd name="connsiteX0" fmla="*/ 0 w 5561996"/>
              <a:gd name="connsiteY0" fmla="*/ 0 h 5123582"/>
              <a:gd name="connsiteX1" fmla="*/ 5561996 w 5561996"/>
              <a:gd name="connsiteY1" fmla="*/ 0 h 5123582"/>
              <a:gd name="connsiteX2" fmla="*/ 5561996 w 5561996"/>
              <a:gd name="connsiteY2" fmla="*/ 5123582 h 5123582"/>
              <a:gd name="connsiteX3" fmla="*/ 0 w 5561996"/>
              <a:gd name="connsiteY3" fmla="*/ 5123582 h 512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1996" h="5123582">
                <a:moveTo>
                  <a:pt x="0" y="0"/>
                </a:moveTo>
                <a:lnTo>
                  <a:pt x="5561996" y="0"/>
                </a:lnTo>
                <a:lnTo>
                  <a:pt x="5561996" y="5123582"/>
                </a:lnTo>
                <a:lnTo>
                  <a:pt x="0" y="5123582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矩形 8"/>
          <p:cNvSpPr/>
          <p:nvPr userDrawn="1"/>
        </p:nvSpPr>
        <p:spPr>
          <a:xfrm>
            <a:off x="0" y="1753567"/>
            <a:ext cx="12192000" cy="30337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31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3505200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zh-CN" altLang="en-US" sz="6000" b="1" spc="600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048832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348004" y="2225865"/>
            <a:ext cx="1495992" cy="914096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 lang="zh-CN" altLang="en-US" sz="6600" b="1" spc="0" dirty="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48833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0488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12905" y="6394752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82" name="组合 68"/>
          <p:cNvGrpSpPr/>
          <p:nvPr userDrawn="1"/>
        </p:nvGrpSpPr>
        <p:grpSpPr>
          <a:xfrm>
            <a:off x="4114416" y="3073720"/>
            <a:ext cx="3963168" cy="163832"/>
            <a:chOff x="4185920" y="3073720"/>
            <a:chExt cx="3963168" cy="163832"/>
          </a:xfrm>
        </p:grpSpPr>
        <p:grpSp>
          <p:nvGrpSpPr>
            <p:cNvPr id="83" name="组合 2"/>
            <p:cNvGrpSpPr/>
            <p:nvPr/>
          </p:nvGrpSpPr>
          <p:grpSpPr>
            <a:xfrm>
              <a:off x="4185920" y="3073720"/>
              <a:ext cx="1056933" cy="163832"/>
              <a:chOff x="1860279" y="2169160"/>
              <a:chExt cx="1056933" cy="163832"/>
            </a:xfrm>
          </p:grpSpPr>
          <p:cxnSp>
            <p:nvCxnSpPr>
              <p:cNvPr id="3145729" name="直接连接符 6"/>
              <p:cNvCxnSpPr>
                <a:cxnSpLocks/>
              </p:cNvCxnSpPr>
              <p:nvPr/>
            </p:nvCxnSpPr>
            <p:spPr>
              <a:xfrm>
                <a:off x="1860279" y="2251076"/>
                <a:ext cx="894495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8835" name="菱形 7"/>
              <p:cNvSpPr/>
              <p:nvPr/>
            </p:nvSpPr>
            <p:spPr>
              <a:xfrm flipH="1">
                <a:off x="2753380" y="2169160"/>
                <a:ext cx="163832" cy="163832"/>
              </a:xfrm>
              <a:prstGeom prst="diamond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4" name="组合 65"/>
            <p:cNvGrpSpPr/>
            <p:nvPr userDrawn="1"/>
          </p:nvGrpSpPr>
          <p:grpSpPr>
            <a:xfrm flipH="1">
              <a:off x="7092155" y="3073720"/>
              <a:ext cx="1056933" cy="163832"/>
              <a:chOff x="1860279" y="2169160"/>
              <a:chExt cx="1056933" cy="163832"/>
            </a:xfrm>
          </p:grpSpPr>
          <p:cxnSp>
            <p:nvCxnSpPr>
              <p:cNvPr id="3145730" name="直接连接符 66"/>
              <p:cNvCxnSpPr>
                <a:cxnSpLocks/>
              </p:cNvCxnSpPr>
              <p:nvPr/>
            </p:nvCxnSpPr>
            <p:spPr>
              <a:xfrm>
                <a:off x="1860279" y="2251076"/>
                <a:ext cx="894495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8836" name="菱形 67"/>
              <p:cNvSpPr/>
              <p:nvPr/>
            </p:nvSpPr>
            <p:spPr>
              <a:xfrm flipH="1">
                <a:off x="2753380" y="2169160"/>
                <a:ext cx="163832" cy="163832"/>
              </a:xfrm>
              <a:prstGeom prst="diamond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矩形 11"/>
          <p:cNvSpPr/>
          <p:nvPr/>
        </p:nvSpPr>
        <p:spPr>
          <a:xfrm>
            <a:off x="0" y="1661161"/>
            <a:ext cx="12192000" cy="3218538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78" name="powerpoint template design by DAJU_PPT正版来源小红书大橘PPT微信DAJU_PPT请勿抄袭搬运！盗版必究！"/>
          <p:cNvSpPr txBox="1"/>
          <p:nvPr/>
        </p:nvSpPr>
        <p:spPr>
          <a:xfrm>
            <a:off x="1013393" y="2487490"/>
            <a:ext cx="1068496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>
              <a:buNone/>
            </a:pPr>
            <a:r>
              <a:rPr lang="en-US" sz="4000" b="1">
                <a:solidFill>
                  <a:schemeClr val="accent1">
                    <a:lumMod val="20000"/>
                    <a:lumOff val="8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基于深度学习的随机引力波背景</a:t>
            </a:r>
            <a:r>
              <a:rPr lang="zh-CN" altLang="en-US" sz="4000" b="1">
                <a:solidFill>
                  <a:schemeClr val="accent1">
                    <a:lumMod val="20000"/>
                    <a:lumOff val="8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参数估计方法</a:t>
            </a:r>
            <a:endParaRPr lang="en-US" altLang="en-US" sz="4000" b="1" spc="300" dirty="0">
              <a:solidFill>
                <a:schemeClr val="accent1">
                  <a:lumMod val="20000"/>
                  <a:lumOff val="8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48579" name="powerpoint template design by DAJU_PPT正版来源小红书大橘PPT微信DAJU_PPT请勿抄袭搬运！盗版必究！-1"/>
          <p:cNvSpPr txBox="1"/>
          <p:nvPr/>
        </p:nvSpPr>
        <p:spPr>
          <a:xfrm>
            <a:off x="3176016" y="5463076"/>
            <a:ext cx="2829894" cy="369333"/>
          </a:xfrm>
          <a:prstGeom prst="roundRect">
            <a:avLst>
              <a:gd name="adj" fmla="val 50000"/>
            </a:avLst>
          </a:prstGeom>
          <a:noFill/>
          <a:ln>
            <a:solidFill>
              <a:srgbClr val="0B1E63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>
                <a:latin typeface="+mn-ea"/>
              </a:rPr>
              <a:t>汇报人：沈益民</a:t>
            </a:r>
            <a:endParaRPr lang="zh-CN" altLang="en-US" dirty="0"/>
          </a:p>
        </p:txBody>
      </p:sp>
      <p:sp>
        <p:nvSpPr>
          <p:cNvPr id="1048580" name="powerpoint template design by DAJU_PPT正版来源小红书大橘PPT微信DAJU_PPT请勿抄袭搬运！盗版必究！-2"/>
          <p:cNvSpPr txBox="1"/>
          <p:nvPr/>
        </p:nvSpPr>
        <p:spPr>
          <a:xfrm>
            <a:off x="6186089" y="5463076"/>
            <a:ext cx="3365415" cy="369333"/>
          </a:xfrm>
          <a:prstGeom prst="roundRect">
            <a:avLst>
              <a:gd name="adj" fmla="val 50000"/>
            </a:avLst>
          </a:prstGeom>
          <a:noFill/>
          <a:ln>
            <a:solidFill>
              <a:srgbClr val="0B1E63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+mn-ea"/>
              </a:rPr>
              <a:t>指导老师：</a:t>
            </a:r>
            <a:r>
              <a:rPr lang="zh-CN" altLang="en-US" dirty="0"/>
              <a:t>孙</a:t>
            </a:r>
            <a:r>
              <a:rPr lang="zh-CN" altLang="en-US"/>
              <a:t>翠敏、李博华</a:t>
            </a:r>
            <a:endParaRPr lang="zh-CN" altLang="en-US" dirty="0"/>
          </a:p>
        </p:txBody>
      </p:sp>
      <p:cxnSp>
        <p:nvCxnSpPr>
          <p:cNvPr id="3145728" name="powerpoint template design by DAJU_PPT正版来源小红书大橘PPT微信DAJU_PPT请勿抄袭搬运！盗版必究！"/>
          <p:cNvCxnSpPr>
            <a:cxnSpLocks/>
          </p:cNvCxnSpPr>
          <p:nvPr/>
        </p:nvCxnSpPr>
        <p:spPr>
          <a:xfrm>
            <a:off x="1242058" y="3219990"/>
            <a:ext cx="9792000" cy="0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1" name="矩形: 圆角 42"/>
          <p:cNvSpPr/>
          <p:nvPr/>
        </p:nvSpPr>
        <p:spPr>
          <a:xfrm>
            <a:off x="5437595" y="1002756"/>
            <a:ext cx="1316810" cy="13168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 cap="flat" cmpd="sng" algn="ctr">
            <a:noFill/>
            <a:prstDash val="solid"/>
            <a:miter lim="800000"/>
          </a:ln>
          <a:effectLst>
            <a:outerShdw blurRad="508000" dist="1270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2" name="Shape 1"/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583" name="Text 2"/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584" name="Text 3"/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sp>
        <p:nvSpPr>
          <p:cNvPr id="1048589" name="powerpoint template design by DAJU_PPT正版来源小红书大橘PPT微信DAJU_PPT请勿抄袭搬运！盗版必究！"/>
          <p:cNvSpPr txBox="1"/>
          <p:nvPr/>
        </p:nvSpPr>
        <p:spPr>
          <a:xfrm>
            <a:off x="1242058" y="4275915"/>
            <a:ext cx="9707884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汇报时间</a:t>
            </a:r>
            <a:r>
              <a:rPr lang="zh-CN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2026.06.24</a:t>
            </a:r>
            <a:endParaRPr lang="en-US" altLang="zh-CN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pic>
        <p:nvPicPr>
          <p:cNvPr id="2097152" name="图片 2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043305"/>
            <a:ext cx="1224000" cy="122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42"/>
          <p:cNvGrpSpPr/>
          <p:nvPr/>
        </p:nvGrpSpPr>
        <p:grpSpPr>
          <a:xfrm>
            <a:off x="6141085" y="3309620"/>
            <a:ext cx="848360" cy="591185"/>
            <a:chOff x="515938" y="229091"/>
            <a:chExt cx="525990" cy="366097"/>
          </a:xfrm>
        </p:grpSpPr>
        <p:sp>
          <p:nvSpPr>
            <p:cNvPr id="1048596" name="椭圆 43"/>
            <p:cNvSpPr/>
            <p:nvPr/>
          </p:nvSpPr>
          <p:spPr>
            <a:xfrm>
              <a:off x="515938" y="229091"/>
              <a:ext cx="366097" cy="3660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48597" name="椭圆 44"/>
            <p:cNvSpPr/>
            <p:nvPr/>
          </p:nvSpPr>
          <p:spPr>
            <a:xfrm>
              <a:off x="675831" y="229091"/>
              <a:ext cx="366097" cy="36609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5" name="组合 45"/>
          <p:cNvGrpSpPr/>
          <p:nvPr/>
        </p:nvGrpSpPr>
        <p:grpSpPr>
          <a:xfrm>
            <a:off x="6141085" y="4248150"/>
            <a:ext cx="848360" cy="591185"/>
            <a:chOff x="515938" y="229091"/>
            <a:chExt cx="525990" cy="366097"/>
          </a:xfrm>
        </p:grpSpPr>
        <p:sp>
          <p:nvSpPr>
            <p:cNvPr id="1048598" name="椭圆 46"/>
            <p:cNvSpPr/>
            <p:nvPr/>
          </p:nvSpPr>
          <p:spPr>
            <a:xfrm>
              <a:off x="515938" y="229091"/>
              <a:ext cx="366097" cy="3660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48599" name="椭圆 54"/>
            <p:cNvSpPr/>
            <p:nvPr/>
          </p:nvSpPr>
          <p:spPr>
            <a:xfrm>
              <a:off x="675831" y="229091"/>
              <a:ext cx="366097" cy="36609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6" name="组合 55"/>
          <p:cNvGrpSpPr/>
          <p:nvPr/>
        </p:nvGrpSpPr>
        <p:grpSpPr>
          <a:xfrm>
            <a:off x="6141085" y="5186045"/>
            <a:ext cx="848360" cy="591185"/>
            <a:chOff x="515938" y="229091"/>
            <a:chExt cx="525990" cy="366097"/>
          </a:xfrm>
        </p:grpSpPr>
        <p:sp>
          <p:nvSpPr>
            <p:cNvPr id="1048600" name="椭圆 56"/>
            <p:cNvSpPr/>
            <p:nvPr/>
          </p:nvSpPr>
          <p:spPr>
            <a:xfrm>
              <a:off x="515938" y="229091"/>
              <a:ext cx="366097" cy="3660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48601" name="椭圆 57"/>
            <p:cNvSpPr/>
            <p:nvPr/>
          </p:nvSpPr>
          <p:spPr>
            <a:xfrm>
              <a:off x="675831" y="229091"/>
              <a:ext cx="366097" cy="36609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7" name="组合 24"/>
          <p:cNvGrpSpPr/>
          <p:nvPr/>
        </p:nvGrpSpPr>
        <p:grpSpPr>
          <a:xfrm>
            <a:off x="6141085" y="2371090"/>
            <a:ext cx="848360" cy="591185"/>
            <a:chOff x="515938" y="229091"/>
            <a:chExt cx="525990" cy="366097"/>
          </a:xfrm>
        </p:grpSpPr>
        <p:sp>
          <p:nvSpPr>
            <p:cNvPr id="1048602" name="椭圆 40"/>
            <p:cNvSpPr/>
            <p:nvPr/>
          </p:nvSpPr>
          <p:spPr>
            <a:xfrm>
              <a:off x="515938" y="229091"/>
              <a:ext cx="366097" cy="3660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48603" name="椭圆 41"/>
            <p:cNvSpPr/>
            <p:nvPr/>
          </p:nvSpPr>
          <p:spPr>
            <a:xfrm>
              <a:off x="675831" y="229091"/>
              <a:ext cx="366097" cy="36609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8" name="组合 9"/>
          <p:cNvGrpSpPr/>
          <p:nvPr/>
        </p:nvGrpSpPr>
        <p:grpSpPr>
          <a:xfrm>
            <a:off x="6141085" y="1431925"/>
            <a:ext cx="848360" cy="591185"/>
            <a:chOff x="515938" y="229091"/>
            <a:chExt cx="525990" cy="366097"/>
          </a:xfrm>
        </p:grpSpPr>
        <p:sp>
          <p:nvSpPr>
            <p:cNvPr id="1048604" name="椭圆 14"/>
            <p:cNvSpPr/>
            <p:nvPr/>
          </p:nvSpPr>
          <p:spPr>
            <a:xfrm>
              <a:off x="515938" y="229091"/>
              <a:ext cx="366097" cy="3660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48605" name="椭圆 19"/>
            <p:cNvSpPr/>
            <p:nvPr/>
          </p:nvSpPr>
          <p:spPr>
            <a:xfrm>
              <a:off x="675831" y="229091"/>
              <a:ext cx="366097" cy="36609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39" name="组合 2"/>
          <p:cNvGrpSpPr/>
          <p:nvPr/>
        </p:nvGrpSpPr>
        <p:grpSpPr>
          <a:xfrm>
            <a:off x="0" y="0"/>
            <a:ext cx="4646078" cy="6858000"/>
            <a:chOff x="0" y="0"/>
            <a:chExt cx="4646078" cy="6858000"/>
          </a:xfrm>
        </p:grpSpPr>
        <p:sp>
          <p:nvSpPr>
            <p:cNvPr id="1048606" name="任意多边形: 形状 27"/>
            <p:cNvSpPr/>
            <p:nvPr/>
          </p:nvSpPr>
          <p:spPr bwMode="auto">
            <a:xfrm>
              <a:off x="0" y="2279659"/>
              <a:ext cx="2320475" cy="3462689"/>
            </a:xfrm>
            <a:custGeom>
              <a:avLst/>
              <a:gdLst>
                <a:gd name="connsiteX0" fmla="*/ 864869 w 1724024"/>
                <a:gd name="connsiteY0" fmla="*/ 0 h 2572646"/>
                <a:gd name="connsiteX1" fmla="*/ 1724024 w 1724024"/>
                <a:gd name="connsiteY1" fmla="*/ 859155 h 2572646"/>
                <a:gd name="connsiteX2" fmla="*/ 0 w 1724024"/>
                <a:gd name="connsiteY2" fmla="*/ 2572646 h 2572646"/>
                <a:gd name="connsiteX3" fmla="*/ 0 w 1724024"/>
                <a:gd name="connsiteY3" fmla="*/ 859596 h 257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4024" h="2572646">
                  <a:moveTo>
                    <a:pt x="864869" y="0"/>
                  </a:moveTo>
                  <a:lnTo>
                    <a:pt x="1724024" y="859155"/>
                  </a:lnTo>
                  <a:lnTo>
                    <a:pt x="0" y="2572646"/>
                  </a:lnTo>
                  <a:lnTo>
                    <a:pt x="0" y="85959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id-ID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endParaRPr lang="id-ID" dirty="0"/>
            </a:p>
          </p:txBody>
        </p:sp>
        <p:sp>
          <p:nvSpPr>
            <p:cNvPr id="1048607" name="任意多边形: 形状 28"/>
            <p:cNvSpPr/>
            <p:nvPr/>
          </p:nvSpPr>
          <p:spPr bwMode="auto">
            <a:xfrm>
              <a:off x="0" y="1128106"/>
              <a:ext cx="1164083" cy="2316915"/>
            </a:xfrm>
            <a:custGeom>
              <a:avLst/>
              <a:gdLst>
                <a:gd name="connsiteX0" fmla="*/ 0 w 864869"/>
                <a:gd name="connsiteY0" fmla="*/ 0 h 1721379"/>
                <a:gd name="connsiteX1" fmla="*/ 864869 w 864869"/>
                <a:gd name="connsiteY1" fmla="*/ 862224 h 1721379"/>
                <a:gd name="connsiteX2" fmla="*/ 475 w 864869"/>
                <a:gd name="connsiteY2" fmla="*/ 1721379 h 1721379"/>
                <a:gd name="connsiteX3" fmla="*/ 0 w 864869"/>
                <a:gd name="connsiteY3" fmla="*/ 1720905 h 1721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869" h="1721379">
                  <a:moveTo>
                    <a:pt x="0" y="0"/>
                  </a:moveTo>
                  <a:lnTo>
                    <a:pt x="864869" y="862224"/>
                  </a:lnTo>
                  <a:lnTo>
                    <a:pt x="475" y="1721379"/>
                  </a:lnTo>
                  <a:lnTo>
                    <a:pt x="0" y="1720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id-ID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endParaRPr lang="id-ID"/>
            </a:p>
          </p:txBody>
        </p:sp>
        <p:sp>
          <p:nvSpPr>
            <p:cNvPr id="1048608" name="任意多边形: 形状 29"/>
            <p:cNvSpPr/>
            <p:nvPr/>
          </p:nvSpPr>
          <p:spPr bwMode="auto">
            <a:xfrm>
              <a:off x="0" y="0"/>
              <a:ext cx="3489686" cy="3455074"/>
            </a:xfrm>
            <a:custGeom>
              <a:avLst/>
              <a:gdLst>
                <a:gd name="connsiteX0" fmla="*/ 0 w 2592704"/>
                <a:gd name="connsiteY0" fmla="*/ 0 h 2566988"/>
                <a:gd name="connsiteX1" fmla="*/ 879633 w 2592704"/>
                <a:gd name="connsiteY1" fmla="*/ 0 h 2566988"/>
                <a:gd name="connsiteX2" fmla="*/ 2592704 w 2592704"/>
                <a:gd name="connsiteY2" fmla="*/ 1707833 h 2566988"/>
                <a:gd name="connsiteX3" fmla="*/ 1728310 w 2592704"/>
                <a:gd name="connsiteY3" fmla="*/ 2566988 h 2566988"/>
                <a:gd name="connsiteX4" fmla="*/ 0 w 2592704"/>
                <a:gd name="connsiteY4" fmla="*/ 842197 h 256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2704" h="2566988">
                  <a:moveTo>
                    <a:pt x="0" y="0"/>
                  </a:moveTo>
                  <a:lnTo>
                    <a:pt x="879633" y="0"/>
                  </a:lnTo>
                  <a:lnTo>
                    <a:pt x="2592704" y="1707833"/>
                  </a:lnTo>
                  <a:lnTo>
                    <a:pt x="1728310" y="2566988"/>
                  </a:lnTo>
                  <a:lnTo>
                    <a:pt x="0" y="84219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id-ID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endParaRPr lang="id-ID"/>
            </a:p>
          </p:txBody>
        </p:sp>
        <p:sp>
          <p:nvSpPr>
            <p:cNvPr id="1048609" name="任意多边形: 形状 30"/>
            <p:cNvSpPr/>
            <p:nvPr/>
          </p:nvSpPr>
          <p:spPr bwMode="auto">
            <a:xfrm>
              <a:off x="0" y="2260637"/>
              <a:ext cx="4646078" cy="4597363"/>
            </a:xfrm>
            <a:custGeom>
              <a:avLst/>
              <a:gdLst>
                <a:gd name="connsiteX0" fmla="*/ 2592704 w 3451859"/>
                <a:gd name="connsiteY0" fmla="*/ 0 h 3415665"/>
                <a:gd name="connsiteX1" fmla="*/ 3451859 w 3451859"/>
                <a:gd name="connsiteY1" fmla="*/ 859155 h 3415665"/>
                <a:gd name="connsiteX2" fmla="*/ 879633 w 3451859"/>
                <a:gd name="connsiteY2" fmla="*/ 3415665 h 3415665"/>
                <a:gd name="connsiteX3" fmla="*/ 0 w 3451859"/>
                <a:gd name="connsiteY3" fmla="*/ 3415665 h 3415665"/>
                <a:gd name="connsiteX4" fmla="*/ 0 w 3451859"/>
                <a:gd name="connsiteY4" fmla="*/ 2576895 h 341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1859" h="3415665">
                  <a:moveTo>
                    <a:pt x="2592704" y="0"/>
                  </a:moveTo>
                  <a:lnTo>
                    <a:pt x="3451859" y="859155"/>
                  </a:lnTo>
                  <a:lnTo>
                    <a:pt x="879633" y="3415665"/>
                  </a:lnTo>
                  <a:lnTo>
                    <a:pt x="0" y="3415665"/>
                  </a:lnTo>
                  <a:lnTo>
                    <a:pt x="0" y="2576895"/>
                  </a:lnTo>
                  <a:close/>
                </a:path>
              </a:pathLst>
            </a:custGeom>
            <a:solidFill>
              <a:srgbClr val="0E298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id-ID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endParaRPr lang="id-ID" dirty="0"/>
            </a:p>
          </p:txBody>
        </p:sp>
        <p:sp>
          <p:nvSpPr>
            <p:cNvPr id="1048610" name="文本框 31"/>
            <p:cNvSpPr txBox="1"/>
            <p:nvPr/>
          </p:nvSpPr>
          <p:spPr>
            <a:xfrm rot="18883833">
              <a:off x="144593" y="3943690"/>
              <a:ext cx="4356893" cy="1231257"/>
            </a:xfrm>
            <a:prstGeom prst="rect">
              <a:avLst/>
            </a:prstGeom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id-ID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r>
                <a:rPr lang="id-ID" sz="6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</a:p>
          </p:txBody>
        </p:sp>
      </p:grpSp>
      <p:grpSp>
        <p:nvGrpSpPr>
          <p:cNvPr id="40" name="组合 37"/>
          <p:cNvGrpSpPr/>
          <p:nvPr/>
        </p:nvGrpSpPr>
        <p:grpSpPr>
          <a:xfrm>
            <a:off x="6079590" y="1358651"/>
            <a:ext cx="2868413" cy="739244"/>
            <a:chOff x="6079590" y="1788959"/>
            <a:chExt cx="2868413" cy="739244"/>
          </a:xfrm>
        </p:grpSpPr>
        <p:sp>
          <p:nvSpPr>
            <p:cNvPr id="1048611" name="矩形 23"/>
            <p:cNvSpPr/>
            <p:nvPr/>
          </p:nvSpPr>
          <p:spPr bwMode="auto">
            <a:xfrm>
              <a:off x="6079590" y="1788959"/>
              <a:ext cx="739244" cy="739244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0" forceAA="0" compatLnSpc="1">
              <a:norm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048612" name="文本框 32"/>
            <p:cNvSpPr txBox="1"/>
            <p:nvPr/>
          </p:nvSpPr>
          <p:spPr>
            <a:xfrm>
              <a:off x="7545924" y="1927749"/>
              <a:ext cx="1402079" cy="447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研究背景</a:t>
              </a:r>
              <a:endPara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53"/>
          <p:cNvGrpSpPr/>
          <p:nvPr/>
        </p:nvGrpSpPr>
        <p:grpSpPr>
          <a:xfrm>
            <a:off x="6079590" y="4174040"/>
            <a:ext cx="3035994" cy="739244"/>
            <a:chOff x="6079590" y="4328323"/>
            <a:chExt cx="3035994" cy="739244"/>
          </a:xfrm>
        </p:grpSpPr>
        <p:sp>
          <p:nvSpPr>
            <p:cNvPr id="1048613" name="矩形 8"/>
            <p:cNvSpPr/>
            <p:nvPr/>
          </p:nvSpPr>
          <p:spPr bwMode="auto">
            <a:xfrm>
              <a:off x="6079590" y="4328323"/>
              <a:ext cx="739244" cy="739244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0" forceAA="0" compatLnSpc="1">
              <a:norm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等线 Light" panose="02010600030101010101" charset="-122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1048614" name="文本框 33"/>
            <p:cNvSpPr txBox="1"/>
            <p:nvPr/>
          </p:nvSpPr>
          <p:spPr>
            <a:xfrm>
              <a:off x="7545924" y="4467113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sz="2400" b="1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实验评估</a:t>
              </a:r>
              <a:endPara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38"/>
          <p:cNvGrpSpPr/>
          <p:nvPr/>
        </p:nvGrpSpPr>
        <p:grpSpPr>
          <a:xfrm>
            <a:off x="6079590" y="2297114"/>
            <a:ext cx="3382243" cy="739244"/>
            <a:chOff x="6079590" y="2638078"/>
            <a:chExt cx="3382243" cy="739244"/>
          </a:xfrm>
        </p:grpSpPr>
        <p:sp>
          <p:nvSpPr>
            <p:cNvPr id="1048615" name="矩形 18"/>
            <p:cNvSpPr/>
            <p:nvPr/>
          </p:nvSpPr>
          <p:spPr bwMode="auto">
            <a:xfrm>
              <a:off x="6079590" y="2638078"/>
              <a:ext cx="739244" cy="739244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0" forceAA="0" compatLnSpc="1">
              <a:norm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等线 Light" panose="02010600030101010101" charset="-122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1048616" name="文本框 34"/>
            <p:cNvSpPr txBox="1"/>
            <p:nvPr/>
          </p:nvSpPr>
          <p:spPr>
            <a:xfrm>
              <a:off x="7545924" y="2776868"/>
              <a:ext cx="19159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数据集生成</a:t>
              </a:r>
              <a:endPara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39"/>
          <p:cNvGrpSpPr/>
          <p:nvPr/>
        </p:nvGrpSpPr>
        <p:grpSpPr>
          <a:xfrm>
            <a:off x="6079590" y="3235577"/>
            <a:ext cx="3035994" cy="739244"/>
            <a:chOff x="6079590" y="3491159"/>
            <a:chExt cx="3035994" cy="739244"/>
          </a:xfrm>
        </p:grpSpPr>
        <p:sp>
          <p:nvSpPr>
            <p:cNvPr id="1048617" name="矩形 13"/>
            <p:cNvSpPr/>
            <p:nvPr/>
          </p:nvSpPr>
          <p:spPr bwMode="auto">
            <a:xfrm>
              <a:off x="6079590" y="3491159"/>
              <a:ext cx="739244" cy="739244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0" forceAA="0" compatLnSpc="1">
              <a:norm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等线 Light" panose="02010600030101010101" charset="-122"/>
                  <a:cs typeface="Arial" panose="020B0604020202020204" pitchFamily="34" charset="0"/>
                </a:rPr>
                <a:t>03</a:t>
              </a:r>
            </a:p>
          </p:txBody>
        </p:sp>
        <p:sp>
          <p:nvSpPr>
            <p:cNvPr id="1048618" name="文本框 35"/>
            <p:cNvSpPr txBox="1"/>
            <p:nvPr/>
          </p:nvSpPr>
          <p:spPr>
            <a:xfrm>
              <a:off x="7545924" y="3629949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模型训练</a:t>
              </a:r>
              <a:endPara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4" name="组合 52"/>
          <p:cNvGrpSpPr/>
          <p:nvPr/>
        </p:nvGrpSpPr>
        <p:grpSpPr>
          <a:xfrm>
            <a:off x="6079590" y="5112502"/>
            <a:ext cx="3382243" cy="739244"/>
            <a:chOff x="6079590" y="5112502"/>
            <a:chExt cx="3382243" cy="739244"/>
          </a:xfrm>
        </p:grpSpPr>
        <p:sp>
          <p:nvSpPr>
            <p:cNvPr id="1048619" name="文本框 36"/>
            <p:cNvSpPr txBox="1"/>
            <p:nvPr/>
          </p:nvSpPr>
          <p:spPr>
            <a:xfrm>
              <a:off x="7545924" y="5251292"/>
              <a:ext cx="19159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困难与经验</a:t>
              </a:r>
              <a:endParaRPr lang="zh-CN" altLang="en-US" sz="1800" b="1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620" name="矩形 49"/>
            <p:cNvSpPr/>
            <p:nvPr/>
          </p:nvSpPr>
          <p:spPr bwMode="auto">
            <a:xfrm>
              <a:off x="6079590" y="5112502"/>
              <a:ext cx="739244" cy="739244"/>
            </a:xfrm>
            <a:prstGeom prst="rect">
              <a:avLst/>
            </a:prstGeom>
            <a:noFill/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0" forceAA="0" compatLnSpc="1">
              <a:norm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等线 Light" panose="02010600030101010101" charset="-122"/>
                  <a:cs typeface="Arial" panose="020B0604020202020204" pitchFamily="34" charset="0"/>
                </a:rPr>
                <a:t>05</a:t>
              </a:r>
            </a:p>
          </p:txBody>
        </p:sp>
      </p:grpSp>
      <p:pic>
        <p:nvPicPr>
          <p:cNvPr id="2097153" name="图片 26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530" y="152400"/>
            <a:ext cx="780415" cy="780415"/>
          </a:xfrm>
          <a:prstGeom prst="rect">
            <a:avLst/>
          </a:prstGeom>
        </p:spPr>
      </p:pic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矩形 4"/>
          <p:cNvSpPr/>
          <p:nvPr/>
        </p:nvSpPr>
        <p:spPr>
          <a:xfrm>
            <a:off x="0" y="1732915"/>
            <a:ext cx="12192000" cy="3383915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26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522388" y="3505200"/>
            <a:ext cx="5147224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spc="6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研究背景</a:t>
            </a:r>
          </a:p>
        </p:txBody>
      </p:sp>
      <p:sp>
        <p:nvSpPr>
          <p:cNvPr id="104862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348004" y="2225865"/>
            <a:ext cx="1495992" cy="876300"/>
          </a:xfrm>
          <a:custGeom>
            <a:av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avLst>
            <a:gdLst>
              <a:gd name="connsiteX0-1" fmla="*/ 0 w 65"/>
              <a:gd name="connsiteY0-2" fmla="*/ 0 h 276999"/>
              <a:gd name="connsiteX1-3" fmla="*/ 65 w 65"/>
              <a:gd name="connsiteY1-4" fmla="*/ 0 h 276999"/>
              <a:gd name="connsiteX2-5" fmla="*/ 65 w 65"/>
              <a:gd name="connsiteY2-6" fmla="*/ 276999 h 276999"/>
              <a:gd name="connsiteX3-7" fmla="*/ 0 w 65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600" b="1" kern="1200" spc="0" dirty="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+mn-ea"/>
                <a:sym typeface="+mn-lt"/>
              </a:rPr>
              <a:t>01</a:t>
            </a:r>
          </a:p>
        </p:txBody>
      </p:sp>
      <p:sp>
        <p:nvSpPr>
          <p:cNvPr id="104862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1048629" name="Shape 1"/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630" name="Text 2"/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631" name="Text 3"/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pic>
        <p:nvPicPr>
          <p:cNvPr id="2097154" name="图片 9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55" y="152400"/>
            <a:ext cx="780415" cy="7804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矩形 4"/>
          <p:cNvSpPr/>
          <p:nvPr/>
        </p:nvSpPr>
        <p:spPr>
          <a:xfrm>
            <a:off x="0" y="1732915"/>
            <a:ext cx="12192000" cy="3383915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42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3522388" y="3505200"/>
            <a:ext cx="5147224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spc="6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数据集生成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643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348004" y="2225865"/>
            <a:ext cx="1495992" cy="876300"/>
          </a:xfrm>
          <a:custGeom>
            <a:av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avLst>
            <a:gdLst>
              <a:gd name="connsiteX0-1" fmla="*/ 0 w 65"/>
              <a:gd name="connsiteY0-2" fmla="*/ 0 h 276999"/>
              <a:gd name="connsiteX1-3" fmla="*/ 65 w 65"/>
              <a:gd name="connsiteY1-4" fmla="*/ 0 h 276999"/>
              <a:gd name="connsiteX2-5" fmla="*/ 65 w 65"/>
              <a:gd name="connsiteY2-6" fmla="*/ 276999 h 276999"/>
              <a:gd name="connsiteX3-7" fmla="*/ 0 w 65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600" b="1" kern="1200" spc="0" dirty="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+mn-ea"/>
                <a:sym typeface="+mn-lt"/>
              </a:rPr>
              <a:t>02</a:t>
            </a:r>
          </a:p>
        </p:txBody>
      </p:sp>
      <p:sp>
        <p:nvSpPr>
          <p:cNvPr id="1048644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TWO</a:t>
            </a:r>
            <a:endParaRPr lang="zh-CN" altLang="en-US" dirty="0"/>
          </a:p>
        </p:txBody>
      </p:sp>
      <p:sp>
        <p:nvSpPr>
          <p:cNvPr id="1048645" name="Shape 1"/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646" name="Text 2"/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647" name="Text 3"/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pic>
        <p:nvPicPr>
          <p:cNvPr id="2097157" name="图片 2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530" y="152400"/>
            <a:ext cx="780415" cy="780415"/>
          </a:xfrm>
          <a:prstGeom prst="rect">
            <a:avLst/>
          </a:prstGeom>
        </p:spPr>
      </p:pic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矩形 4"/>
          <p:cNvSpPr/>
          <p:nvPr/>
        </p:nvSpPr>
        <p:spPr>
          <a:xfrm>
            <a:off x="0" y="1732915"/>
            <a:ext cx="12192000" cy="3383915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57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2598420" y="3505200"/>
            <a:ext cx="7183120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spc="6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模型训练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758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348004" y="2225865"/>
            <a:ext cx="1495992" cy="876300"/>
          </a:xfrm>
          <a:custGeom>
            <a:av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avLst>
            <a:gdLst>
              <a:gd name="connsiteX0-1" fmla="*/ 0 w 65"/>
              <a:gd name="connsiteY0-2" fmla="*/ 0 h 276999"/>
              <a:gd name="connsiteX1-3" fmla="*/ 65 w 65"/>
              <a:gd name="connsiteY1-4" fmla="*/ 0 h 276999"/>
              <a:gd name="connsiteX2-5" fmla="*/ 65 w 65"/>
              <a:gd name="connsiteY2-6" fmla="*/ 276999 h 276999"/>
              <a:gd name="connsiteX3-7" fmla="*/ 0 w 65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600" b="1" kern="1200" spc="0" dirty="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+mn-ea"/>
                <a:sym typeface="+mn-lt"/>
              </a:rPr>
              <a:t>03</a:t>
            </a:r>
          </a:p>
        </p:txBody>
      </p:sp>
      <p:sp>
        <p:nvSpPr>
          <p:cNvPr id="1048759" name="powerpoint template design by DAJU_PPT正版来源小红书大橘PPT微信DAJU_PPT请勿抄袭搬运！盗版必究！"/>
          <p:cNvSpPr>
            <a:spLocks noGrp="1"/>
          </p:cNvSpPr>
          <p:nvPr/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sp>
        <p:nvSpPr>
          <p:cNvPr id="1048760" name="Shape 1"/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61" name="Text 2"/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762" name="Text 3"/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pic>
        <p:nvPicPr>
          <p:cNvPr id="2097166" name="图片 26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530" y="152400"/>
            <a:ext cx="780415" cy="780415"/>
          </a:xfrm>
          <a:prstGeom prst="rect">
            <a:avLst/>
          </a:prstGeom>
        </p:spPr>
      </p:pic>
    </p:spTree>
  </p:cSld>
  <p:clrMapOvr>
    <a:masterClrMapping/>
  </p:clrMapOvr>
  <p:transition spd="slow"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6D68-17AD-7579-1592-D51BA24D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矩形 4">
            <a:extLst>
              <a:ext uri="{FF2B5EF4-FFF2-40B4-BE49-F238E27FC236}">
                <a16:creationId xmlns:a16="http://schemas.microsoft.com/office/drawing/2014/main" id="{00EBF23B-1D1A-776C-3374-57CA16C73645}"/>
              </a:ext>
            </a:extLst>
          </p:cNvPr>
          <p:cNvSpPr/>
          <p:nvPr/>
        </p:nvSpPr>
        <p:spPr>
          <a:xfrm>
            <a:off x="0" y="1732915"/>
            <a:ext cx="12192000" cy="3383915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5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D611F1C0-8149-E5C5-4F15-46A21D405C9C}"/>
              </a:ext>
            </a:extLst>
          </p:cNvPr>
          <p:cNvSpPr>
            <a:spLocks noGrp="1"/>
          </p:cNvSpPr>
          <p:nvPr/>
        </p:nvSpPr>
        <p:spPr>
          <a:xfrm>
            <a:off x="2598420" y="3505200"/>
            <a:ext cx="7183120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spc="6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实验评估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75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6B1CD799-3856-D5C9-991E-25FB22C5994C}"/>
              </a:ext>
            </a:extLst>
          </p:cNvPr>
          <p:cNvSpPr>
            <a:spLocks noGrp="1"/>
          </p:cNvSpPr>
          <p:nvPr/>
        </p:nvSpPr>
        <p:spPr>
          <a:xfrm>
            <a:off x="5348004" y="2225865"/>
            <a:ext cx="1495992" cy="914096"/>
          </a:xfrm>
          <a:custGeom>
            <a:av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avLst>
            <a:gdLst>
              <a:gd name="connsiteX0-1" fmla="*/ 0 w 65"/>
              <a:gd name="connsiteY0-2" fmla="*/ 0 h 276999"/>
              <a:gd name="connsiteX1-3" fmla="*/ 65 w 65"/>
              <a:gd name="connsiteY1-4" fmla="*/ 0 h 276999"/>
              <a:gd name="connsiteX2-5" fmla="*/ 65 w 65"/>
              <a:gd name="connsiteY2-6" fmla="*/ 276999 h 276999"/>
              <a:gd name="connsiteX3-7" fmla="*/ 0 w 65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600" b="1" kern="1200" spc="0" dirty="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+mn-ea"/>
                <a:sym typeface="+mn-lt"/>
              </a:rPr>
              <a:t>04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104875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42F66A3E-37D7-20E9-175D-326DBBBFD879}"/>
              </a:ext>
            </a:extLst>
          </p:cNvPr>
          <p:cNvSpPr>
            <a:spLocks noGrp="1"/>
          </p:cNvSpPr>
          <p:nvPr/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sp>
        <p:nvSpPr>
          <p:cNvPr id="1048760" name="Shape 1">
            <a:extLst>
              <a:ext uri="{FF2B5EF4-FFF2-40B4-BE49-F238E27FC236}">
                <a16:creationId xmlns:a16="http://schemas.microsoft.com/office/drawing/2014/main" id="{5D1A51E2-4F02-CC06-A68E-8C707B9217E2}"/>
              </a:ext>
            </a:extLst>
          </p:cNvPr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61" name="Text 2">
            <a:extLst>
              <a:ext uri="{FF2B5EF4-FFF2-40B4-BE49-F238E27FC236}">
                <a16:creationId xmlns:a16="http://schemas.microsoft.com/office/drawing/2014/main" id="{9D5AFC4D-FC6D-0066-F02A-B35ECEDAD252}"/>
              </a:ext>
            </a:extLst>
          </p:cNvPr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762" name="Text 3">
            <a:extLst>
              <a:ext uri="{FF2B5EF4-FFF2-40B4-BE49-F238E27FC236}">
                <a16:creationId xmlns:a16="http://schemas.microsoft.com/office/drawing/2014/main" id="{EB72C6DD-5EDD-6EEB-BF9C-B2FF4C75C6A4}"/>
              </a:ext>
            </a:extLst>
          </p:cNvPr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pic>
        <p:nvPicPr>
          <p:cNvPr id="2097166" name="图片 26" descr="logo">
            <a:extLst>
              <a:ext uri="{FF2B5EF4-FFF2-40B4-BE49-F238E27FC236}">
                <a16:creationId xmlns:a16="http://schemas.microsoft.com/office/drawing/2014/main" id="{7E50D67A-3993-E69D-E7BE-A01B07D6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530" y="152400"/>
            <a:ext cx="780415" cy="78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55844"/>
      </p:ext>
    </p:extLst>
  </p:cSld>
  <p:clrMapOvr>
    <a:masterClrMapping/>
  </p:clrMapOvr>
  <p:transition spd="slow">
    <p:blind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03B9-8B7B-6ABF-9CC6-FA2F09843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矩形 4">
            <a:extLst>
              <a:ext uri="{FF2B5EF4-FFF2-40B4-BE49-F238E27FC236}">
                <a16:creationId xmlns:a16="http://schemas.microsoft.com/office/drawing/2014/main" id="{E033D4EC-1E1F-48D3-7089-DF1D4AA25D57}"/>
              </a:ext>
            </a:extLst>
          </p:cNvPr>
          <p:cNvSpPr/>
          <p:nvPr/>
        </p:nvSpPr>
        <p:spPr>
          <a:xfrm>
            <a:off x="0" y="1732915"/>
            <a:ext cx="12192000" cy="3383915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57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7543B8CF-1C07-7B72-8971-DD197739B58B}"/>
              </a:ext>
            </a:extLst>
          </p:cNvPr>
          <p:cNvSpPr>
            <a:spLocks noGrp="1"/>
          </p:cNvSpPr>
          <p:nvPr/>
        </p:nvSpPr>
        <p:spPr>
          <a:xfrm>
            <a:off x="2598420" y="3505200"/>
            <a:ext cx="7183120" cy="830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spc="600" dirty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困难与经验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758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11DF595C-F58E-62AD-1948-A242600D537C}"/>
              </a:ext>
            </a:extLst>
          </p:cNvPr>
          <p:cNvSpPr>
            <a:spLocks noGrp="1"/>
          </p:cNvSpPr>
          <p:nvPr/>
        </p:nvSpPr>
        <p:spPr>
          <a:xfrm>
            <a:off x="5348004" y="2225865"/>
            <a:ext cx="1495992" cy="914096"/>
          </a:xfrm>
          <a:custGeom>
            <a:av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avLst>
            <a:gdLst>
              <a:gd name="connsiteX0-1" fmla="*/ 0 w 65"/>
              <a:gd name="connsiteY0-2" fmla="*/ 0 h 276999"/>
              <a:gd name="connsiteX1-3" fmla="*/ 65 w 65"/>
              <a:gd name="connsiteY1-4" fmla="*/ 0 h 276999"/>
              <a:gd name="connsiteX2-5" fmla="*/ 65 w 65"/>
              <a:gd name="connsiteY2-6" fmla="*/ 276999 h 276999"/>
              <a:gd name="connsiteX3-7" fmla="*/ 0 w 65"/>
              <a:gd name="connsiteY3-8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600" b="1" kern="1200" spc="0" dirty="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cs typeface="+mn-ea"/>
                <a:sym typeface="+mn-lt"/>
              </a:rPr>
              <a:t>05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1048759" name="powerpoint template design by DAJU_PPT正版来源小红书大橘PPT微信DAJU_PPT请勿抄袭搬运！盗版必究！">
            <a:extLst>
              <a:ext uri="{FF2B5EF4-FFF2-40B4-BE49-F238E27FC236}">
                <a16:creationId xmlns:a16="http://schemas.microsoft.com/office/drawing/2014/main" id="{FAB85CE3-024C-9F98-8783-ECD14BF9BC18}"/>
              </a:ext>
            </a:extLst>
          </p:cNvPr>
          <p:cNvSpPr>
            <a:spLocks noGrp="1"/>
          </p:cNvSpPr>
          <p:nvPr/>
        </p:nvSpPr>
        <p:spPr>
          <a:xfrm>
            <a:off x="5080414" y="3026003"/>
            <a:ext cx="203117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3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PART THREE</a:t>
            </a:r>
            <a:endParaRPr lang="zh-CN" altLang="en-US" dirty="0"/>
          </a:p>
        </p:txBody>
      </p:sp>
      <p:sp>
        <p:nvSpPr>
          <p:cNvPr id="1048760" name="Shape 1">
            <a:extLst>
              <a:ext uri="{FF2B5EF4-FFF2-40B4-BE49-F238E27FC236}">
                <a16:creationId xmlns:a16="http://schemas.microsoft.com/office/drawing/2014/main" id="{F9B315B8-D4D7-2894-83F1-044906A6C5C6}"/>
              </a:ext>
            </a:extLst>
          </p:cNvPr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761" name="Text 2">
            <a:extLst>
              <a:ext uri="{FF2B5EF4-FFF2-40B4-BE49-F238E27FC236}">
                <a16:creationId xmlns:a16="http://schemas.microsoft.com/office/drawing/2014/main" id="{A4F489E0-D8AC-3C13-A23C-5AE743B3147D}"/>
              </a:ext>
            </a:extLst>
          </p:cNvPr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762" name="Text 3">
            <a:extLst>
              <a:ext uri="{FF2B5EF4-FFF2-40B4-BE49-F238E27FC236}">
                <a16:creationId xmlns:a16="http://schemas.microsoft.com/office/drawing/2014/main" id="{64EEB5B4-5D4E-F8C7-F252-A62F18836F4F}"/>
              </a:ext>
            </a:extLst>
          </p:cNvPr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pic>
        <p:nvPicPr>
          <p:cNvPr id="2097166" name="图片 26" descr="logo">
            <a:extLst>
              <a:ext uri="{FF2B5EF4-FFF2-40B4-BE49-F238E27FC236}">
                <a16:creationId xmlns:a16="http://schemas.microsoft.com/office/drawing/2014/main" id="{90A5390E-1F82-E40C-6E58-2B64F0F6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530" y="152400"/>
            <a:ext cx="780415" cy="78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47861"/>
      </p:ext>
    </p:extLst>
  </p:cSld>
  <p:clrMapOvr>
    <a:masterClrMapping/>
  </p:clrMapOvr>
  <p:transition spd="slow"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矩形 43"/>
          <p:cNvSpPr/>
          <p:nvPr/>
        </p:nvSpPr>
        <p:spPr>
          <a:xfrm>
            <a:off x="0" y="1661161"/>
            <a:ext cx="12192000" cy="3218538"/>
          </a:xfrm>
          <a:prstGeom prst="rect">
            <a:avLst/>
          </a:prstGeom>
          <a:solidFill>
            <a:srgbClr val="0E298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15" name="powerpoint template design by DAJU_PPT正版来源小红书大橘PPT微信DAJU_PPT请勿抄袭搬运！盗版必究！"/>
          <p:cNvSpPr txBox="1"/>
          <p:nvPr/>
        </p:nvSpPr>
        <p:spPr>
          <a:xfrm>
            <a:off x="2799082" y="2637927"/>
            <a:ext cx="6146800" cy="66040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chemeClr val="accent1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谢谢大家，恳请批评指正</a:t>
            </a:r>
          </a:p>
        </p:txBody>
      </p:sp>
      <p:sp>
        <p:nvSpPr>
          <p:cNvPr id="1048816" name="矩形: 圆角 49"/>
          <p:cNvSpPr/>
          <p:nvPr/>
        </p:nvSpPr>
        <p:spPr>
          <a:xfrm>
            <a:off x="5437595" y="1002756"/>
            <a:ext cx="1316810" cy="13168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 cap="flat" cmpd="sng" algn="ctr">
            <a:noFill/>
            <a:prstDash val="solid"/>
            <a:miter lim="800000"/>
          </a:ln>
          <a:effectLst>
            <a:outerShdw blurRad="508000" dist="1270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17" name="powerpoint template design by DAJU_PPT正版来源小红书大橘PPT微信DAJU_PPT请勿抄袭搬运！盗版必究！-1"/>
          <p:cNvSpPr txBox="1"/>
          <p:nvPr/>
        </p:nvSpPr>
        <p:spPr>
          <a:xfrm>
            <a:off x="3176016" y="5463076"/>
            <a:ext cx="2829894" cy="369333"/>
          </a:xfrm>
          <a:prstGeom prst="roundRect">
            <a:avLst>
              <a:gd name="adj" fmla="val 50000"/>
            </a:avLst>
          </a:prstGeom>
          <a:noFill/>
          <a:ln>
            <a:solidFill>
              <a:srgbClr val="0B1E63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00" b="1" dirty="0">
                <a:latin typeface="+mn-ea"/>
              </a:rPr>
              <a:t>汇报</a:t>
            </a:r>
            <a:r>
              <a:rPr lang="zh-CN" altLang="en-US" sz="1800" b="1">
                <a:latin typeface="+mn-ea"/>
              </a:rPr>
              <a:t>人：沈益民</a:t>
            </a:r>
            <a:endParaRPr lang="zh-CN" altLang="en-US" dirty="0"/>
          </a:p>
        </p:txBody>
      </p:sp>
      <p:sp>
        <p:nvSpPr>
          <p:cNvPr id="1048818" name="powerpoint template design by DAJU_PPT正版来源小红书大橘PPT微信DAJU_PPT请勿抄袭搬运！盗版必究！-2"/>
          <p:cNvSpPr txBox="1"/>
          <p:nvPr/>
        </p:nvSpPr>
        <p:spPr>
          <a:xfrm>
            <a:off x="6186089" y="5463076"/>
            <a:ext cx="3146753" cy="369333"/>
          </a:xfrm>
          <a:prstGeom prst="roundRect">
            <a:avLst>
              <a:gd name="adj" fmla="val 50000"/>
            </a:avLst>
          </a:prstGeom>
          <a:noFill/>
          <a:ln>
            <a:solidFill>
              <a:srgbClr val="0B1E63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+mn-ea"/>
              </a:rPr>
              <a:t>指导</a:t>
            </a:r>
            <a:r>
              <a:rPr lang="zh-CN" altLang="en-US" b="1">
                <a:latin typeface="+mn-ea"/>
              </a:rPr>
              <a:t>老师：孙翠敏、李博华</a:t>
            </a:r>
            <a:endParaRPr lang="zh-CN" altLang="en-US" dirty="0"/>
          </a:p>
        </p:txBody>
      </p:sp>
      <p:sp>
        <p:nvSpPr>
          <p:cNvPr id="1048819" name="powerpoint template design by DAJU_PPT正版来源小红书大橘PPT微信DAJU_PPT请勿抄袭搬运！盗版必究！"/>
          <p:cNvSpPr txBox="1"/>
          <p:nvPr/>
        </p:nvSpPr>
        <p:spPr>
          <a:xfrm>
            <a:off x="1242058" y="4275915"/>
            <a:ext cx="9707884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汇报时间</a:t>
            </a:r>
            <a:r>
              <a:rPr lang="zh-CN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：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2026.06.24</a:t>
            </a:r>
            <a:endParaRPr lang="en-US" altLang="zh-CN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sp>
        <p:nvSpPr>
          <p:cNvPr id="1048820" name="Shape 1"/>
          <p:cNvSpPr/>
          <p:nvPr/>
        </p:nvSpPr>
        <p:spPr>
          <a:xfrm>
            <a:off x="146304" y="162687"/>
            <a:ext cx="658368" cy="576000"/>
          </a:xfrm>
          <a:prstGeom prst="roundRect">
            <a:avLst>
              <a:gd name="adj" fmla="val 13793"/>
            </a:avLst>
          </a:prstGeom>
          <a:solidFill>
            <a:srgbClr val="0B2E6D"/>
          </a:solidFill>
          <a:ln w="12700">
            <a:solidFill>
              <a:srgbClr val="0B2E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821" name="Text 2"/>
          <p:cNvSpPr/>
          <p:nvPr/>
        </p:nvSpPr>
        <p:spPr>
          <a:xfrm>
            <a:off x="173736" y="263271"/>
            <a:ext cx="60350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SGWB</a:t>
            </a:r>
            <a:endParaRPr lang="en-US" sz="900" dirty="0"/>
          </a:p>
        </p:txBody>
      </p:sp>
      <p:sp>
        <p:nvSpPr>
          <p:cNvPr id="1048822" name="Text 3"/>
          <p:cNvSpPr/>
          <p:nvPr/>
        </p:nvSpPr>
        <p:spPr>
          <a:xfrm>
            <a:off x="210312" y="419862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∿∿</a:t>
            </a:r>
            <a:endParaRPr lang="en-US" sz="1800" dirty="0"/>
          </a:p>
        </p:txBody>
      </p:sp>
      <p:sp>
        <p:nvSpPr>
          <p:cNvPr id="1048823" name="Shape 6"/>
          <p:cNvSpPr/>
          <p:nvPr/>
        </p:nvSpPr>
        <p:spPr>
          <a:xfrm>
            <a:off x="10132695" y="112395"/>
            <a:ext cx="1579880" cy="1483360"/>
          </a:xfrm>
          <a:prstGeom prst="arc">
            <a:avLst/>
          </a:prstGeom>
          <a:noFill/>
          <a:ln w="63500">
            <a:solidFill>
              <a:srgbClr val="0B57D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824" name="Shape 7"/>
          <p:cNvSpPr/>
          <p:nvPr/>
        </p:nvSpPr>
        <p:spPr>
          <a:xfrm>
            <a:off x="10709910" y="535940"/>
            <a:ext cx="556895" cy="56451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825" name="Shape 8"/>
          <p:cNvSpPr/>
          <p:nvPr/>
        </p:nvSpPr>
        <p:spPr>
          <a:xfrm>
            <a:off x="10854055" y="708660"/>
            <a:ext cx="228600" cy="231775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8826" name="Text 9"/>
          <p:cNvSpPr/>
          <p:nvPr/>
        </p:nvSpPr>
        <p:spPr>
          <a:xfrm>
            <a:off x="10119995" y="1257300"/>
            <a:ext cx="1854835" cy="361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63"/>
                </a:solidFill>
                <a:latin typeface="宋体" panose="02010600030101010101" pitchFamily="2" charset="-122"/>
                <a:ea typeface="宋体" panose="02010600030101010101" pitchFamily="2" charset="-122"/>
                <a:cs typeface="Aptos" pitchFamily="34" charset="-120"/>
              </a:rPr>
              <a:t>SGWB</a:t>
            </a:r>
          </a:p>
        </p:txBody>
      </p:sp>
      <p:pic>
        <p:nvPicPr>
          <p:cNvPr id="2097177" name="图片 4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043305"/>
            <a:ext cx="1224000" cy="12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宽屏</PresentationFormat>
  <Paragraphs>53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微软雅黑</vt:lpstr>
      <vt:lpstr>微软雅黑</vt:lpstr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carollumukanda8988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SGWB Detection Leadership Report</dc:title>
  <dc:creator>OpenAI</dc:creator>
  <cp:lastModifiedBy>a73033</cp:lastModifiedBy>
  <cp:revision>1</cp:revision>
  <dcterms:created xsi:type="dcterms:W3CDTF">2026-05-03T13:16:00Z</dcterms:created>
  <dcterms:modified xsi:type="dcterms:W3CDTF">2026-06-20T07:20:18Z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68D11D7DDBF84E74A5A493BB5A1DA241_12</vt:lpwstr>
  </property>
</Properties>
</file>